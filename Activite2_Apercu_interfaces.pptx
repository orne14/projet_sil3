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Diapositive de titre, à ne pas capturer.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Résumé du parcours. À reprendre en quelques phrases dans le rapport.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À capturer : la fenêtre seule, sans le titre de la diapositive.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Moyenne = (3×12 + 4×14 + 3×8) / 10 = 11,6. EPP inférieur à 10 donc Non validé.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Clara : (48+48+45)/10 = 14,1. Benoit : (30+72+36)/10 = 13,8. Awa : 11,6.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20116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Application de gestion des notes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28803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05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Activité 2 : Visual Basic. Aperçu des interfaces et parcours d’exécution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77240" y="3520440"/>
            <a:ext cx="2743200" cy="0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37033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05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FANDY Ornela · ATAYI Eliel · SIL · Année académique 2025-2026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603504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7F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écrans de ce document sont des aperçus simulés à partir de la maquette de l’application.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572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Parcours d’exécution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280160"/>
            <a:ext cx="106070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Lancement de l’application : la fenêtre principale s’ouvre avec un classement vide.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Saisie d’un étudiant (Awa) : le nom et les trois notes sont renseignés, les mentions et la moyenne apparaissent.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Clic sur Ajouter : l’étudiant est enregistré, les champs sont vidés et il apparaît dans le classement.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Ajout de Benoit et Clara, puis actualisation : le classement est trié par moyenne décroissante, avec le rang.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Saisie d’une note incorrecte (EPP = 25) : un message d’erreur demande une note entre 0 et 20.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Sélection de Benoit dans le tableau, puis clic sur Voir le bulletin.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Affichage du bulletin de Benoit : notes, mentions, moyenne générale et rang.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Affichage du bulletin d’Awa : la mention Non validé apparaît en rouge pour l’EPP.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274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Étape 1 : Lancement de l’application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71323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Fenêtre principale au démarrage : formulaire vide et classement vide.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647395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F7F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Aperçu simulé de l’interface (pas une capture d’exécution).</a:t>
            </a:r>
            <a:endParaRPr lang="en-US" sz="1000" dirty="0"/>
          </a:p>
        </p:txBody>
      </p:sp>
      <p:sp>
        <p:nvSpPr>
          <p:cNvPr id="5" name="Fenetre"/>
          <p:cNvSpPr/>
          <p:nvPr/>
        </p:nvSpPr>
        <p:spPr>
          <a:xfrm>
            <a:off x="777240" y="1051560"/>
            <a:ext cx="10634472" cy="5349240"/>
          </a:xfrm>
          <a:prstGeom prst="rect">
            <a:avLst/>
          </a:prstGeom>
          <a:solidFill>
            <a:srgbClr val="F0F0F0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6" name="Barre de titre"/>
          <p:cNvSpPr/>
          <p:nvPr/>
        </p:nvSpPr>
        <p:spPr>
          <a:xfrm>
            <a:off x="777240" y="1051560"/>
            <a:ext cx="1063447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6968" y="1051560"/>
            <a:ext cx="9171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Gestion des étudiants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131552" y="10515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–     □     ×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62763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Nom :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971800" y="1627632"/>
            <a:ext cx="365760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7A7A7A"/>
            </a:solidFill>
          </a:ln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0116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Tronc commun :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971800" y="2011680"/>
            <a:ext cx="100584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7A7A7A"/>
            </a:solidFill>
          </a:ln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39572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Spécialité :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971800" y="2395728"/>
            <a:ext cx="100584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7A7A7A"/>
            </a:solidFill>
          </a:ln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277977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EPP :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971800" y="2779776"/>
            <a:ext cx="100584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7A7A7A"/>
            </a:solidFill>
          </a:ln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160520" y="201168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Mention TC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160520" y="239572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Mention spécialité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160520" y="277977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Mention EPP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316382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Moyenne générale :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971800" y="316382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3639312"/>
            <a:ext cx="1188720" cy="365760"/>
          </a:xfrm>
          <a:prstGeom prst="rect">
            <a:avLst/>
          </a:prstGeom>
          <a:solidFill>
            <a:srgbClr val="E1E1E1"/>
          </a:solidFill>
          <a:ln w="9525">
            <a:solidFill>
              <a:srgbClr val="ADADA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Ajouter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2423160" y="3639312"/>
            <a:ext cx="2286000" cy="365760"/>
          </a:xfrm>
          <a:prstGeom prst="rect">
            <a:avLst/>
          </a:prstGeom>
          <a:solidFill>
            <a:srgbClr val="E1E1E1"/>
          </a:solidFill>
          <a:ln w="9525">
            <a:solidFill>
              <a:srgbClr val="ADADA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Actualiser le classement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846320" y="3639312"/>
            <a:ext cx="1828800" cy="365760"/>
          </a:xfrm>
          <a:prstGeom prst="rect">
            <a:avLst/>
          </a:prstGeom>
          <a:solidFill>
            <a:srgbClr val="E1E1E1"/>
          </a:solidFill>
          <a:ln w="9525">
            <a:solidFill>
              <a:srgbClr val="ADADA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Voir le bulletin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" y="41148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Classement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097280" y="4434840"/>
            <a:ext cx="9994392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7A7A7A"/>
            </a:solidFill>
            <a:prstDash val="solid"/>
          </a:ln>
        </p:spPr>
      </p:sp>
      <p:graphicFrame>
        <p:nvGraphicFramePr>
          <p:cNvPr id="4" name="Classemen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4434840"/>
          <a:ext cx="999439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554480"/>
                <a:gridCol w="1143000"/>
                <a:gridCol w="1143000"/>
                <a:gridCol w="1143000"/>
                <a:gridCol w="1508760"/>
                <a:gridCol w="731520"/>
                <a:gridCol w="1097280"/>
                <a:gridCol w="103327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Nom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Tronc commun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Mention TC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Spécialité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Mention spécialité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EPP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Mention EPP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Moyenne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274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Étape 2 : Saisie d’un étudiant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71323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Awa : Tronc commun 12, Spécialité 14, EPP 8. Les mentions et la moyenne sont calculées.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647395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F7F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Aperçu simulé de l’interface (pas une capture d’exécution).</a:t>
            </a:r>
            <a:endParaRPr lang="en-US" sz="1000" dirty="0"/>
          </a:p>
        </p:txBody>
      </p:sp>
      <p:sp>
        <p:nvSpPr>
          <p:cNvPr id="5" name="Fenetre"/>
          <p:cNvSpPr/>
          <p:nvPr/>
        </p:nvSpPr>
        <p:spPr>
          <a:xfrm>
            <a:off x="777240" y="1051560"/>
            <a:ext cx="10634472" cy="5349240"/>
          </a:xfrm>
          <a:prstGeom prst="rect">
            <a:avLst/>
          </a:prstGeom>
          <a:solidFill>
            <a:srgbClr val="F0F0F0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6" name="Barre de titre"/>
          <p:cNvSpPr/>
          <p:nvPr/>
        </p:nvSpPr>
        <p:spPr>
          <a:xfrm>
            <a:off x="777240" y="1051560"/>
            <a:ext cx="1063447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6968" y="1051560"/>
            <a:ext cx="9171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Gestion des étudiants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131552" y="10515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–     □     ×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62763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Nom :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971800" y="1627632"/>
            <a:ext cx="365760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7A7A7A"/>
            </a:solidFill>
          </a:ln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Awa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0116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Tronc commun :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971800" y="2011680"/>
            <a:ext cx="100584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7A7A7A"/>
            </a:solidFill>
          </a:ln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39572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Spécialité :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971800" y="2395728"/>
            <a:ext cx="100584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7A7A7A"/>
            </a:solidFill>
          </a:ln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277977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EPP :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971800" y="2779776"/>
            <a:ext cx="100584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7A7A7A"/>
            </a:solidFill>
          </a:ln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160520" y="20116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64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Validé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160520" y="239572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64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Validé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160520" y="277977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 validé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316382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Moyenne générale :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971800" y="316382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11,60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3639312"/>
            <a:ext cx="1188720" cy="365760"/>
          </a:xfrm>
          <a:prstGeom prst="rect">
            <a:avLst/>
          </a:prstGeom>
          <a:solidFill>
            <a:srgbClr val="E1E1E1"/>
          </a:solidFill>
          <a:ln w="9525">
            <a:solidFill>
              <a:srgbClr val="ADADA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Ajouter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2423160" y="3639312"/>
            <a:ext cx="2286000" cy="365760"/>
          </a:xfrm>
          <a:prstGeom prst="rect">
            <a:avLst/>
          </a:prstGeom>
          <a:solidFill>
            <a:srgbClr val="E1E1E1"/>
          </a:solidFill>
          <a:ln w="9525">
            <a:solidFill>
              <a:srgbClr val="ADADA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Actualiser le classement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846320" y="3639312"/>
            <a:ext cx="1828800" cy="365760"/>
          </a:xfrm>
          <a:prstGeom prst="rect">
            <a:avLst/>
          </a:prstGeom>
          <a:solidFill>
            <a:srgbClr val="E1E1E1"/>
          </a:solidFill>
          <a:ln w="9525">
            <a:solidFill>
              <a:srgbClr val="ADADA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Voir le bulletin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" y="41148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Classement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097280" y="4434840"/>
            <a:ext cx="9994392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7A7A7A"/>
            </a:solidFill>
            <a:prstDash val="solid"/>
          </a:ln>
        </p:spPr>
      </p:sp>
      <p:graphicFrame>
        <p:nvGraphicFramePr>
          <p:cNvPr id="5" name="Classemen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4434840"/>
          <a:ext cx="999439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554480"/>
                <a:gridCol w="1143000"/>
                <a:gridCol w="1143000"/>
                <a:gridCol w="1143000"/>
                <a:gridCol w="1508760"/>
                <a:gridCol w="731520"/>
                <a:gridCol w="1097280"/>
                <a:gridCol w="103327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Nom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Tronc commun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Mention TC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Spécialité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Mention spécialité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EPP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Mention EPP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Moyenne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274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Étape 3 : Enregistrement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71323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Après le clic sur Ajouter : champs vidés, Awa apparaît dans le classement avec le rang 1.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647395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F7F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Aperçu simulé de l’interface (pas une capture d’exécution).</a:t>
            </a:r>
            <a:endParaRPr lang="en-US" sz="1000" dirty="0"/>
          </a:p>
        </p:txBody>
      </p:sp>
      <p:sp>
        <p:nvSpPr>
          <p:cNvPr id="5" name="Fenetre"/>
          <p:cNvSpPr/>
          <p:nvPr/>
        </p:nvSpPr>
        <p:spPr>
          <a:xfrm>
            <a:off x="777240" y="1051560"/>
            <a:ext cx="10634472" cy="5349240"/>
          </a:xfrm>
          <a:prstGeom prst="rect">
            <a:avLst/>
          </a:prstGeom>
          <a:solidFill>
            <a:srgbClr val="F0F0F0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6" name="Barre de titre"/>
          <p:cNvSpPr/>
          <p:nvPr/>
        </p:nvSpPr>
        <p:spPr>
          <a:xfrm>
            <a:off x="777240" y="1051560"/>
            <a:ext cx="1063447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6968" y="1051560"/>
            <a:ext cx="9171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Gestion des étudiants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131552" y="10515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–     □     ×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62763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Nom :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971800" y="1627632"/>
            <a:ext cx="365760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7A7A7A"/>
            </a:solidFill>
          </a:ln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0116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Tronc commun :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971800" y="2011680"/>
            <a:ext cx="100584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7A7A7A"/>
            </a:solidFill>
          </a:ln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39572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Spécialité :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971800" y="2395728"/>
            <a:ext cx="100584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7A7A7A"/>
            </a:solidFill>
          </a:ln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277977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EPP :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971800" y="2779776"/>
            <a:ext cx="100584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7A7A7A"/>
            </a:solidFill>
          </a:ln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160520" y="201168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Mention TC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160520" y="239572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Mention spécialité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160520" y="277977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Mention EPP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316382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Moyenne générale :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971800" y="316382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3639312"/>
            <a:ext cx="1188720" cy="365760"/>
          </a:xfrm>
          <a:prstGeom prst="rect">
            <a:avLst/>
          </a:prstGeom>
          <a:solidFill>
            <a:srgbClr val="E1E1E1"/>
          </a:solidFill>
          <a:ln w="9525">
            <a:solidFill>
              <a:srgbClr val="ADADA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Ajouter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2423160" y="3639312"/>
            <a:ext cx="2286000" cy="365760"/>
          </a:xfrm>
          <a:prstGeom prst="rect">
            <a:avLst/>
          </a:prstGeom>
          <a:solidFill>
            <a:srgbClr val="E1E1E1"/>
          </a:solidFill>
          <a:ln w="9525">
            <a:solidFill>
              <a:srgbClr val="ADADA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Actualiser le classement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846320" y="3639312"/>
            <a:ext cx="1828800" cy="365760"/>
          </a:xfrm>
          <a:prstGeom prst="rect">
            <a:avLst/>
          </a:prstGeom>
          <a:solidFill>
            <a:srgbClr val="E1E1E1"/>
          </a:solidFill>
          <a:ln w="9525">
            <a:solidFill>
              <a:srgbClr val="ADADA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Voir le bulletin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" y="41148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Classement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097280" y="4434840"/>
            <a:ext cx="9994392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7A7A7A"/>
            </a:solidFill>
            <a:prstDash val="solid"/>
          </a:ln>
        </p:spPr>
      </p:sp>
      <p:graphicFrame>
        <p:nvGraphicFramePr>
          <p:cNvPr id="6" name="Classemen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4434840"/>
          <a:ext cx="999439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554480"/>
                <a:gridCol w="1143000"/>
                <a:gridCol w="1143000"/>
                <a:gridCol w="1143000"/>
                <a:gridCol w="1508760"/>
                <a:gridCol w="731520"/>
                <a:gridCol w="1097280"/>
                <a:gridCol w="103327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Nom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Tronc commun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Mention TC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Spécialité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Mention spécialité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EPP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Mention EPP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Moyenne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Awa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Validé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14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Validé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 validé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11,60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274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Étape 4 : Classement par ordre de mérite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71323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Après l’ajout de Benoit et Clara et le clic sur Actualiser le classement.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647395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F7F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Aperçu simulé de l’interface (pas une capture d’exécution).</a:t>
            </a:r>
            <a:endParaRPr lang="en-US" sz="1000" dirty="0"/>
          </a:p>
        </p:txBody>
      </p:sp>
      <p:sp>
        <p:nvSpPr>
          <p:cNvPr id="5" name="Fenetre"/>
          <p:cNvSpPr/>
          <p:nvPr/>
        </p:nvSpPr>
        <p:spPr>
          <a:xfrm>
            <a:off x="777240" y="1051560"/>
            <a:ext cx="10634472" cy="5349240"/>
          </a:xfrm>
          <a:prstGeom prst="rect">
            <a:avLst/>
          </a:prstGeom>
          <a:solidFill>
            <a:srgbClr val="F0F0F0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6" name="Barre de titre"/>
          <p:cNvSpPr/>
          <p:nvPr/>
        </p:nvSpPr>
        <p:spPr>
          <a:xfrm>
            <a:off x="777240" y="1051560"/>
            <a:ext cx="1063447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6968" y="1051560"/>
            <a:ext cx="9171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Gestion des étudiants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131552" y="10515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–     □     ×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62763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Nom :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971800" y="1627632"/>
            <a:ext cx="365760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7A7A7A"/>
            </a:solidFill>
          </a:ln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0116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Tronc commun :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971800" y="2011680"/>
            <a:ext cx="100584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7A7A7A"/>
            </a:solidFill>
          </a:ln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39572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Spécialité :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971800" y="2395728"/>
            <a:ext cx="100584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7A7A7A"/>
            </a:solidFill>
          </a:ln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277977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EPP :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971800" y="2779776"/>
            <a:ext cx="100584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7A7A7A"/>
            </a:solidFill>
          </a:ln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160520" y="201168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Mention TC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160520" y="239572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Mention spécialité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160520" y="277977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Mention EPP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316382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Moyenne générale :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971800" y="316382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3639312"/>
            <a:ext cx="1188720" cy="365760"/>
          </a:xfrm>
          <a:prstGeom prst="rect">
            <a:avLst/>
          </a:prstGeom>
          <a:solidFill>
            <a:srgbClr val="E1E1E1"/>
          </a:solidFill>
          <a:ln w="9525">
            <a:solidFill>
              <a:srgbClr val="ADADA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Ajouter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2423160" y="3639312"/>
            <a:ext cx="2286000" cy="365760"/>
          </a:xfrm>
          <a:prstGeom prst="rect">
            <a:avLst/>
          </a:prstGeom>
          <a:solidFill>
            <a:srgbClr val="E1E1E1"/>
          </a:solidFill>
          <a:ln w="9525">
            <a:solidFill>
              <a:srgbClr val="ADADA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Actualiser le classement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846320" y="3639312"/>
            <a:ext cx="1828800" cy="365760"/>
          </a:xfrm>
          <a:prstGeom prst="rect">
            <a:avLst/>
          </a:prstGeom>
          <a:solidFill>
            <a:srgbClr val="E1E1E1"/>
          </a:solidFill>
          <a:ln w="9525">
            <a:solidFill>
              <a:srgbClr val="ADADA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Voir le bulletin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" y="41148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Classement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097280" y="4434840"/>
            <a:ext cx="9994392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7A7A7A"/>
            </a:solidFill>
            <a:prstDash val="solid"/>
          </a:ln>
        </p:spPr>
      </p:sp>
      <p:graphicFrame>
        <p:nvGraphicFramePr>
          <p:cNvPr id="7" name="Classemen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4434840"/>
          <a:ext cx="999439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554480"/>
                <a:gridCol w="1143000"/>
                <a:gridCol w="1143000"/>
                <a:gridCol w="1143000"/>
                <a:gridCol w="1508760"/>
                <a:gridCol w="731520"/>
                <a:gridCol w="1097280"/>
                <a:gridCol w="103327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Nom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Tronc commun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Mention TC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Spécialité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Mention spécialité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EPP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Mention EPP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Moyenne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Clara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Validé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Validé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Validé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14,10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Benoit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Validé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Validé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Validé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13,80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Awa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Validé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14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Validé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 validé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11,60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274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Étape 5 : Contrôle de saisie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71323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 note de 25 est refusée : un message demande une valeur entre 0 et 20.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647395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F7F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Aperçu simulé de l’interface (pas une capture d’exécution).</a:t>
            </a:r>
            <a:endParaRPr lang="en-US" sz="1000" dirty="0"/>
          </a:p>
        </p:txBody>
      </p:sp>
      <p:sp>
        <p:nvSpPr>
          <p:cNvPr id="5" name="Fenetre"/>
          <p:cNvSpPr/>
          <p:nvPr/>
        </p:nvSpPr>
        <p:spPr>
          <a:xfrm>
            <a:off x="777240" y="1051560"/>
            <a:ext cx="10634472" cy="5349240"/>
          </a:xfrm>
          <a:prstGeom prst="rect">
            <a:avLst/>
          </a:prstGeom>
          <a:solidFill>
            <a:srgbClr val="F0F0F0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6" name="Barre de titre"/>
          <p:cNvSpPr/>
          <p:nvPr/>
        </p:nvSpPr>
        <p:spPr>
          <a:xfrm>
            <a:off x="777240" y="1051560"/>
            <a:ext cx="1063447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6968" y="1051560"/>
            <a:ext cx="9171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Gestion des étudiants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131552" y="10515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–     □     ×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62763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Nom :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971800" y="1627632"/>
            <a:ext cx="365760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7A7A7A"/>
            </a:solidFill>
          </a:ln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Denis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0116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Tronc commun :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971800" y="2011680"/>
            <a:ext cx="100584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7A7A7A"/>
            </a:solidFill>
          </a:ln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39572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Spécialité :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971800" y="2395728"/>
            <a:ext cx="100584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7A7A7A"/>
            </a:solidFill>
          </a:ln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277977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EPP :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971800" y="2779776"/>
            <a:ext cx="100584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7A7A7A"/>
            </a:solidFill>
          </a:ln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160520" y="20116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64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Validé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160520" y="239572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 validé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160520" y="277977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64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Validé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316382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Moyenne générale :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971800" y="316382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3639312"/>
            <a:ext cx="1188720" cy="365760"/>
          </a:xfrm>
          <a:prstGeom prst="rect">
            <a:avLst/>
          </a:prstGeom>
          <a:solidFill>
            <a:srgbClr val="E1E1E1"/>
          </a:solidFill>
          <a:ln w="9525">
            <a:solidFill>
              <a:srgbClr val="ADADA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Ajouter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2423160" y="3639312"/>
            <a:ext cx="2286000" cy="365760"/>
          </a:xfrm>
          <a:prstGeom prst="rect">
            <a:avLst/>
          </a:prstGeom>
          <a:solidFill>
            <a:srgbClr val="E1E1E1"/>
          </a:solidFill>
          <a:ln w="9525">
            <a:solidFill>
              <a:srgbClr val="ADADA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Actualiser le classement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846320" y="3639312"/>
            <a:ext cx="1828800" cy="365760"/>
          </a:xfrm>
          <a:prstGeom prst="rect">
            <a:avLst/>
          </a:prstGeom>
          <a:solidFill>
            <a:srgbClr val="E1E1E1"/>
          </a:solidFill>
          <a:ln w="9525">
            <a:solidFill>
              <a:srgbClr val="ADADA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Voir le bulletin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" y="41148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Classement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097280" y="4434840"/>
            <a:ext cx="9994392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7A7A7A"/>
            </a:solidFill>
            <a:prstDash val="solid"/>
          </a:ln>
        </p:spPr>
      </p:sp>
      <p:graphicFrame>
        <p:nvGraphicFramePr>
          <p:cNvPr id="8" name="Classemen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4434840"/>
          <a:ext cx="999439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554480"/>
                <a:gridCol w="1143000"/>
                <a:gridCol w="1143000"/>
                <a:gridCol w="1143000"/>
                <a:gridCol w="1508760"/>
                <a:gridCol w="731520"/>
                <a:gridCol w="1097280"/>
                <a:gridCol w="103327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Nom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Tronc commun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Mention TC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Spécialité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Mention spécialité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EPP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Mention EPP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Moyenne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Clara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Validé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Validé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Validé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14,10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Benoit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Validé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Validé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Validé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13,80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Awa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Validé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14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Validé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 validé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11,60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8" name="Shape 25"/>
          <p:cNvSpPr/>
          <p:nvPr/>
        </p:nvSpPr>
        <p:spPr>
          <a:xfrm>
            <a:off x="3625596" y="2743200"/>
            <a:ext cx="4937760" cy="1828800"/>
          </a:xfrm>
          <a:prstGeom prst="rect">
            <a:avLst/>
          </a:prstGeom>
          <a:solidFill>
            <a:srgbClr val="FFFFFF"/>
          </a:solidFill>
          <a:ln w="15875">
            <a:solidFill>
              <a:srgbClr val="59595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29" name="Text 26"/>
          <p:cNvSpPr txBox="1"/>
          <p:nvPr/>
        </p:nvSpPr>
        <p:spPr>
          <a:xfrm>
            <a:off x="3735324" y="274320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Gestion des étudiants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3899916" y="32461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note d’EPP doit être comprise entre 0 et 20.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3625596" y="3977640"/>
            <a:ext cx="4937760" cy="594360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374636" y="4096512"/>
            <a:ext cx="914400" cy="365760"/>
          </a:xfrm>
          <a:prstGeom prst="rect">
            <a:avLst/>
          </a:prstGeom>
          <a:solidFill>
            <a:srgbClr val="E1E1E1"/>
          </a:solidFill>
          <a:ln w="9525">
            <a:solidFill>
              <a:srgbClr val="ADADA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OK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274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Étape 6 : Choix d’un étudiant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71323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Benoit est sélectionné dans le tableau, puis un clic sur Voir le bulletin ouvre la deuxième fenêtre.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647395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F7F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Aperçu simulé de l’interface (pas une capture d’exécution).</a:t>
            </a:r>
            <a:endParaRPr lang="en-US" sz="1000" dirty="0"/>
          </a:p>
        </p:txBody>
      </p:sp>
      <p:sp>
        <p:nvSpPr>
          <p:cNvPr id="5" name="Fenetre"/>
          <p:cNvSpPr/>
          <p:nvPr/>
        </p:nvSpPr>
        <p:spPr>
          <a:xfrm>
            <a:off x="777240" y="1051560"/>
            <a:ext cx="10634472" cy="5349240"/>
          </a:xfrm>
          <a:prstGeom prst="rect">
            <a:avLst/>
          </a:prstGeom>
          <a:solidFill>
            <a:srgbClr val="F0F0F0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6" name="Barre de titre"/>
          <p:cNvSpPr/>
          <p:nvPr/>
        </p:nvSpPr>
        <p:spPr>
          <a:xfrm>
            <a:off x="777240" y="1051560"/>
            <a:ext cx="1063447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6968" y="1051560"/>
            <a:ext cx="9171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Gestion des étudiants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131552" y="10515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–     □     ×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62763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Nom :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971800" y="1627632"/>
            <a:ext cx="365760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7A7A7A"/>
            </a:solidFill>
          </a:ln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0116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Tronc commun :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971800" y="2011680"/>
            <a:ext cx="100584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7A7A7A"/>
            </a:solidFill>
          </a:ln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39572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Spécialité :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971800" y="2395728"/>
            <a:ext cx="100584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7A7A7A"/>
            </a:solidFill>
          </a:ln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277977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EPP :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971800" y="2779776"/>
            <a:ext cx="100584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7A7A7A"/>
            </a:solidFill>
          </a:ln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160520" y="201168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Mention TC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160520" y="239572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Mention spécialité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160520" y="277977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Mention EPP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316382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Moyenne générale :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971800" y="316382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3639312"/>
            <a:ext cx="1188720" cy="365760"/>
          </a:xfrm>
          <a:prstGeom prst="rect">
            <a:avLst/>
          </a:prstGeom>
          <a:solidFill>
            <a:srgbClr val="E1E1E1"/>
          </a:solidFill>
          <a:ln w="9525">
            <a:solidFill>
              <a:srgbClr val="ADADA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Ajouter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2423160" y="3639312"/>
            <a:ext cx="2286000" cy="365760"/>
          </a:xfrm>
          <a:prstGeom prst="rect">
            <a:avLst/>
          </a:prstGeom>
          <a:solidFill>
            <a:srgbClr val="E1E1E1"/>
          </a:solidFill>
          <a:ln w="9525">
            <a:solidFill>
              <a:srgbClr val="ADADA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Actualiser le classement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846320" y="3639312"/>
            <a:ext cx="1828800" cy="365760"/>
          </a:xfrm>
          <a:prstGeom prst="rect">
            <a:avLst/>
          </a:prstGeom>
          <a:solidFill>
            <a:srgbClr val="E1E1E1"/>
          </a:solidFill>
          <a:ln w="9525">
            <a:solidFill>
              <a:srgbClr val="ADADA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Voir le bulletin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" y="41148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Classement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097280" y="4434840"/>
            <a:ext cx="9994392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7A7A7A"/>
            </a:solidFill>
            <a:prstDash val="solid"/>
          </a:ln>
        </p:spPr>
      </p:sp>
      <p:graphicFrame>
        <p:nvGraphicFramePr>
          <p:cNvPr id="9" name="Classemen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4434840"/>
          <a:ext cx="999439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554480"/>
                <a:gridCol w="1143000"/>
                <a:gridCol w="1143000"/>
                <a:gridCol w="1143000"/>
                <a:gridCol w="1508760"/>
                <a:gridCol w="731520"/>
                <a:gridCol w="1097280"/>
                <a:gridCol w="103327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Nom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Tronc commun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Mention TC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Spécialité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Mention spécialité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EPP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Mention EPP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Moyenne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Clara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Validé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Validé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Validé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14,10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Benoit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Validé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Validé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Validé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13,80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Awa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Validé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14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Validé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 validé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11,60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274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Étape 7 : Bulletin de Benoit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71323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Notes, mentions, moyenne générale et rang.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647395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F7F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Aperçu simulé de l’interface (pas une capture d’exécution).</a:t>
            </a:r>
            <a:endParaRPr lang="en-US" sz="1000" dirty="0"/>
          </a:p>
        </p:txBody>
      </p:sp>
      <p:sp>
        <p:nvSpPr>
          <p:cNvPr id="5" name="Fenetre"/>
          <p:cNvSpPr/>
          <p:nvPr/>
        </p:nvSpPr>
        <p:spPr>
          <a:xfrm>
            <a:off x="2802636" y="1280160"/>
            <a:ext cx="6583680" cy="4480560"/>
          </a:xfrm>
          <a:prstGeom prst="rect">
            <a:avLst/>
          </a:prstGeom>
          <a:solidFill>
            <a:srgbClr val="F0F0F0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6" name="Barre de titre"/>
          <p:cNvSpPr/>
          <p:nvPr/>
        </p:nvSpPr>
        <p:spPr>
          <a:xfrm>
            <a:off x="2802636" y="1280160"/>
            <a:ext cx="6583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912364" y="128016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Bulletin de l’étudiant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106156" y="12801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–     □     ×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259836" y="21031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Nom :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54396" y="210312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Benoit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59836" y="25603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Tronc commun :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54396" y="256032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/ 20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191756" y="25603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64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Validé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259836" y="30175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Spécialité :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54396" y="301752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 / 20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191756" y="30175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64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Validé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259836" y="34747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EPP :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54396" y="347472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/ 20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191756" y="34747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64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Validé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259836" y="4023360"/>
            <a:ext cx="5669280" cy="0"/>
          </a:xfrm>
          <a:prstGeom prst="line">
            <a:avLst/>
          </a:prstGeom>
          <a:noFill/>
          <a:ln w="12700">
            <a:solidFill>
              <a:srgbClr val="A0A0A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259836" y="420624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Moyenne générale :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454396" y="42062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13,80 / 20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259836" y="466344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Rang :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454396" y="46634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274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Étape 8 : Bulletin d’Awa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71323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L’EPP est inférieur à 10 : la mention Non validé s’affiche en rouge foncé.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647395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F7F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Aperçu simulé de l’interface (pas une capture d’exécution).</a:t>
            </a:r>
            <a:endParaRPr lang="en-US" sz="1000" dirty="0"/>
          </a:p>
        </p:txBody>
      </p:sp>
      <p:sp>
        <p:nvSpPr>
          <p:cNvPr id="5" name="Fenetre"/>
          <p:cNvSpPr/>
          <p:nvPr/>
        </p:nvSpPr>
        <p:spPr>
          <a:xfrm>
            <a:off x="2802636" y="1280160"/>
            <a:ext cx="6583680" cy="4480560"/>
          </a:xfrm>
          <a:prstGeom prst="rect">
            <a:avLst/>
          </a:prstGeom>
          <a:solidFill>
            <a:srgbClr val="F0F0F0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6" name="Barre de titre"/>
          <p:cNvSpPr/>
          <p:nvPr/>
        </p:nvSpPr>
        <p:spPr>
          <a:xfrm>
            <a:off x="2802636" y="1280160"/>
            <a:ext cx="6583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912364" y="128016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Bulletin de l’étudiant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106156" y="12801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–     □     ×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259836" y="21031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Nom :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54396" y="210312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59836" y="25603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Tronc commun :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54396" y="256032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/ 20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191756" y="25603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64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Validé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259836" y="30175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Spécialité :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54396" y="301752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/ 20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191756" y="30175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64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Validé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259836" y="34747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EPP :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54396" y="347472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/ 20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191756" y="34747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 validé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259836" y="4023360"/>
            <a:ext cx="5669280" cy="0"/>
          </a:xfrm>
          <a:prstGeom prst="line">
            <a:avLst/>
          </a:prstGeom>
          <a:noFill/>
          <a:ln w="12700">
            <a:solidFill>
              <a:srgbClr val="A0A0A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259836" y="420624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Moyenne générale :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454396" y="42062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11,60 / 20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259836" y="466344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Rang :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454396" y="46634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Activité 2 - Aperçu des interfaces</dc:title>
  <dc:subject>PptxGenJS Presentation</dc:subject>
  <dc:creator>FANDY Ornela, ATAYI Eliel</dc:creator>
  <cp:lastModifiedBy>FANDY Ornela, ATAYI Eliel</cp:lastModifiedBy>
  <cp:revision>1</cp:revision>
  <dcterms:created xsi:type="dcterms:W3CDTF">2026-10-19T02:34:04Z</dcterms:created>
  <dcterms:modified xsi:type="dcterms:W3CDTF">2026-10-19T02:34:04Z</dcterms:modified>
</cp:coreProperties>
</file>